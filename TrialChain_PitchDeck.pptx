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97280"/>
            <a:ext cx="2560320" cy="2560320"/>
          </a:xfrm>
          <a:prstGeom prst="ellipse">
            <a:avLst/>
          </a:prstGeom>
          <a:solidFill>
            <a:srgbClr val="1D9E75">
              <a:alpha val="10000"/>
            </a:srgbClr>
          </a:solidFill>
          <a:ln w="6350">
            <a:solidFill>
              <a:srgbClr val="5DCAA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ALEO PRIVACY BUILDATHON · WAVE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trials,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privacy leak.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TrialChain uses ZK-SNARKs on Aleo so patients prove eligibility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revealing their age, diagnosis, or lab values — ever.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737360" cy="301752"/>
          </a:xfrm>
          <a:prstGeom prst="rect">
            <a:avLst>
              <a:gd name="adj" fmla="val 15152"/>
            </a:avLst>
          </a:prstGeom>
          <a:solidFill>
            <a:srgbClr val="1D9E75">
              <a:alpha val="22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749040"/>
            <a:ext cx="1737360" cy="301752"/>
          </a:xfrm>
          <a:prstGeom prst="rect">
            <a:avLst>
              <a:gd name="adj" fmla="val 15152"/>
            </a:avLst>
          </a:prstGeom>
          <a:solidFill>
            <a:srgbClr val="1D9E75">
              <a:alpha val="22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74904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Aleo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3749040"/>
            <a:ext cx="1737360" cy="301752"/>
          </a:xfrm>
          <a:prstGeom prst="rect">
            <a:avLst>
              <a:gd name="adj" fmla="val 15152"/>
            </a:avLst>
          </a:prstGeom>
          <a:solidFill>
            <a:srgbClr val="1D9E75">
              <a:alpha val="22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74904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Testnet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1737360" cy="301752"/>
          </a:xfrm>
          <a:prstGeom prst="rect">
            <a:avLst>
              <a:gd name="adj" fmla="val 15152"/>
            </a:avLst>
          </a:prstGeom>
          <a:solidFill>
            <a:srgbClr val="1D9E75">
              <a:alpha val="22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74904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trials are broken by design.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72768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30175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medical records exposed to sponsors, CROs, and third-party databases.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1417320"/>
            <a:ext cx="1572768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417320"/>
            <a:ext cx="54864" cy="30175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barriers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50008" y="2029968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trials miss enrollment timelines. Privacy fear is a leading cause.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68496" y="1417320"/>
            <a:ext cx="1572768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8496" y="1417320"/>
            <a:ext cx="54864" cy="30175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56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cherry-picking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05656" y="2029968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delay or suppress negative outcomes with no accountability.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24144" y="1417320"/>
            <a:ext cx="1572768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4144" y="1417320"/>
            <a:ext cx="54864" cy="30175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1304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compensation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61304" y="2029968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transparent, auditable record of payments owed or made to patients.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79792" y="1417320"/>
            <a:ext cx="1572768" cy="301752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417320"/>
            <a:ext cx="54864" cy="30175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complexity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16952" y="2029968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enrollment requires revealing identity, defeating the purpose.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4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you qualify. Reveal nothing else.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TrialChain uses ZK-SNARKs so patients prove eligibility criteria without exposing any underlying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19659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issues credential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0487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Age, diagnosis, lab value stored as encrypted private record. Only patient can read it.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68880" y="1572768"/>
            <a:ext cx="19659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709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9385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generates ZK proof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40487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Circuit verifies age range, condition hash, ownership — without revealing values.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1572768"/>
            <a:ext cx="19659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09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9385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receipt minted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40487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Nullifier prevents double-enrollment; compensation locked on-chain, fully auditable.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3774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66560" y="1572768"/>
            <a:ext cx="196596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7099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9385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commits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40487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Pre-commitment hash prevents suppression. Reveal must match what was committed.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023360" cy="320040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14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age · condition · lab value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4114800"/>
            <a:ext cx="4114800" cy="32004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114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trial ID · enrollment count · nullifier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$65B market ripe for disruption.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645920"/>
          </a:xfrm>
          <a:prstGeom prst="rect">
            <a:avLst/>
          </a:prstGeom>
          <a:solidFill>
            <a:srgbClr val="E1F5EE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clinical trial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645920"/>
          </a:xfrm>
          <a:prstGeom prst="rect">
            <a:avLst/>
          </a:prstGeom>
          <a:solidFill>
            <a:srgbClr val="EAF3DE"/>
          </a:solidFill>
          <a:ln w="10160">
            <a:solidFill>
              <a:srgbClr val="C0DD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91840" y="2395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(CAGR)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06040" cy="1645920"/>
          </a:xfrm>
          <a:prstGeom prst="rect">
            <a:avLst/>
          </a:prstGeom>
          <a:solidFill>
            <a:srgbClr val="E6F1FB"/>
          </a:solidFill>
          <a:ln w="10160">
            <a:solidFill>
              <a:srgbClr val="B5D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126480" y="2395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missing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timelines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Privacy regulation (GDPR, HIPAA) is tightening globally. The $2.3B clinical data management market has no privacy-native solution. TrialChain is the only platform with ZK enrollment proofs — uniquely positioned as regulatory scrutiny increases.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8229600" cy="1828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1828800" cy="1097280"/>
          </a:xfrm>
          <a:prstGeom prst="rect">
            <a:avLst/>
          </a:prstGeom>
          <a:solidFill>
            <a:srgbClr val="0F6E56">
              <a:alpha val="15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Aleo's privacy-first L1.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5DCA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Leo smart contracts  ·  ZK circuits  ·  commit-reveal scheme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ZK Innovations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credential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0665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PatientCredential is an encrypted Leo record — only the patient's private key can decrypt 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786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eligibility circuit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8163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enroll_patient() verifies 6 constraints inside the ZK circuit without revealing inputs.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284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Nullifier anti-replay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hash(patient + trial_id) prevents double-enrollment with zero identity linkage.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782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Commit-reveal results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3159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Sponsors pre-commit a result hash. Suppression is cryptographically impossible.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3931920" cy="32918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Patient 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8288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3931920" cy="32918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 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2860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743200"/>
            <a:ext cx="3931920" cy="32918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7432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values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7432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200400"/>
            <a:ext cx="3931920" cy="32918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2004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Wallet address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2004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(nullifier only)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3931920" cy="32918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6576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Enrollment status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36576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Stack: Leo / Aleo Testnet  ·  Next.js 14  ·  Tailwind CSS  ·  Shield Wallet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MVP, live on testnet.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93392" cy="11704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Leo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1417320"/>
            <a:ext cx="1993392" cy="11704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50876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33472" y="2103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on-chain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417320"/>
            <a:ext cx="1993392" cy="11704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50876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09744" y="2103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trials on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Aleo testnet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86016" y="1417320"/>
            <a:ext cx="1993392" cy="11704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6016" y="150876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86016" y="2103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encrypted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2788920"/>
            <a:ext cx="0" cy="1828800"/>
          </a:xfrm>
          <a:prstGeom prst="line">
            <a:avLst/>
          </a:prstGeom>
          <a:noFill/>
          <a:ln w="889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2825496"/>
            <a:ext cx="201168" cy="201168"/>
          </a:xfrm>
          <a:prstGeom prst="ellipse">
            <a:avLst/>
          </a:prstGeom>
          <a:solidFill>
            <a:srgbClr val="0F6E56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88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2990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complete  ·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9900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ZK enrollment, trial registration, commit-reveal, working UI, testnet deployment.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" y="346557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429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3 MONTHS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400" y="3630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 ·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630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USDCx compensation, mobile app, multi-condition credentials, mainnet prep.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" y="410565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069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6 MONTHS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270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 · 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27024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Mainnet launch, hospital EHR integrations (Epic, Cerner), FDA/EMA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fees + premium enterprise.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0.1% of patient compensation per enrollment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0.5% fee on every trial registration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Accrues directly to protocol treasury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Multi-site trial management portal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Privacy-preserving analytics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7797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API access for CROs and regulators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 Custom compliance reporting (FDA 21 CFR)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9FE1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1363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434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Future: TRIAL governance token for sponsor staking, patient incentive bonuses, and protocol upgrades via DAO. Token model activates post-mainnet once network effects are established.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else has all five.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10312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32588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417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18872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109728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150876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17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integrity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80960" y="1417320"/>
            <a:ext cx="1325880" cy="347472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4173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764792"/>
            <a:ext cx="210312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647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1764792"/>
            <a:ext cx="132588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7647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86200" y="1764792"/>
            <a:ext cx="118872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764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1764792"/>
            <a:ext cx="109728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7647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764792"/>
            <a:ext cx="150876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764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80960" y="1764792"/>
            <a:ext cx="132588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7647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2240280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402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2240280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0" y="2240280"/>
            <a:ext cx="1188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22402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74920" y="2240280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2402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2240280"/>
            <a:ext cx="15087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240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80960" y="2240280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2402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2715768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7157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60320" y="2715768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27157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86200" y="2715768"/>
            <a:ext cx="1188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6200" y="27157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74920" y="2715768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27157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2715768"/>
            <a:ext cx="15087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715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80960" y="2715768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27157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3191256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1912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0" y="3191256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31912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86200" y="3191256"/>
            <a:ext cx="1188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31912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74920" y="3191256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31912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2200" y="3191256"/>
            <a:ext cx="15087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3191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680960" y="3191256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0" y="31912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7200" y="3666744"/>
            <a:ext cx="21031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666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Verida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560320" y="3666744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0" y="366674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886200" y="3666744"/>
            <a:ext cx="11887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86200" y="36667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074920" y="3666744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366674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72200" y="3666744"/>
            <a:ext cx="15087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3666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680960" y="3666744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80960" y="366674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builders who care.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CA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 ·  Web3  ·  ZK cryptography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97480" cy="2331720"/>
          </a:xfrm>
          <a:prstGeom prst="rect">
            <a:avLst/>
          </a:prstGeom>
          <a:solidFill>
            <a:srgbClr val="1D9E75">
              <a:alpha val="12000"/>
            </a:srgbClr>
          </a:solidFill>
          <a:ln w="5080">
            <a:solidFill>
              <a:srgbClr val="5DCAA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1D9E75">
              <a:alpha val="50000"/>
            </a:srgbClr>
          </a:solidFill>
          <a:ln w="762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249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Smart contracts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Web3 development background, Aleo ecosystem contributor. Full-stack Leo + Next.js.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572768"/>
            <a:ext cx="2697480" cy="2331720"/>
          </a:xfrm>
          <a:prstGeom prst="rect">
            <a:avLst/>
          </a:prstGeom>
          <a:solidFill>
            <a:srgbClr val="1D9E75">
              <a:alpha val="12000"/>
            </a:srgbClr>
          </a:solidFill>
          <a:ln w="5080">
            <a:solidFill>
              <a:srgbClr val="5DCAA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737360"/>
            <a:ext cx="594360" cy="594360"/>
          </a:xfrm>
          <a:prstGeom prst="ellipse">
            <a:avLst/>
          </a:prstGeom>
          <a:solidFill>
            <a:srgbClr val="1D9E75">
              <a:alpha val="50000"/>
            </a:srgbClr>
          </a:solidFill>
          <a:ln w="7620">
            <a:solidFill>
              <a:srgbClr val="5DCA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2152" y="27249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02152" y="296265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Background in clinical workflows and EHR integrations (Epic, Cerner).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72784" y="1572768"/>
            <a:ext cx="2697480" cy="2331720"/>
          </a:xfrm>
          <a:prstGeom prst="rect">
            <a:avLst/>
          </a:prstGeom>
          <a:solidFill>
            <a:srgbClr val="1D9E75">
              <a:alpha val="12000"/>
            </a:srgbClr>
          </a:solidFill>
          <a:ln w="5080">
            <a:solidFill>
              <a:srgbClr val="5DCAA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1737360"/>
            <a:ext cx="594360" cy="594360"/>
          </a:xfrm>
          <a:prstGeom prst="ellipse">
            <a:avLst/>
          </a:prstGeom>
          <a:solidFill>
            <a:srgbClr val="1D9E75">
              <a:alpha val="50000"/>
            </a:srgbClr>
          </a:solidFill>
          <a:ln w="7620">
            <a:solidFill>
              <a:srgbClr val="5DCA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9944" y="24505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Researcher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9944" y="272491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· Advisor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9944" y="2962656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ZK cryptography research advisor — active outreach to Aleo ecosystem researchers.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Also seeking advisors in: clinical trial operations  ·  regulatory affairs (FDA/EMA)  ·  enterprise pharma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097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making clinical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trials private by default.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029968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Grant funding  ·  Seed round  ·  Strategic partnership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89504"/>
            <a:ext cx="2560320" cy="658368"/>
          </a:xfrm>
          <a:prstGeom prst="rect">
            <a:avLst/>
          </a:prstGeom>
          <a:solidFill>
            <a:srgbClr val="1D9E75">
              <a:alpha val="15000"/>
            </a:srgbClr>
          </a:solidFill>
          <a:ln w="508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169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91693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engineering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889504"/>
            <a:ext cx="2560320" cy="658368"/>
          </a:xfrm>
          <a:prstGeom prst="rect">
            <a:avLst/>
          </a:prstGeom>
          <a:solidFill>
            <a:srgbClr val="1D9E75">
              <a:alpha val="15000"/>
            </a:srgbClr>
          </a:solidFill>
          <a:ln w="508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9169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291693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Mainnet deployment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security audits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889504"/>
            <a:ext cx="2560320" cy="658368"/>
          </a:xfrm>
          <a:prstGeom prst="rect">
            <a:avLst/>
          </a:prstGeom>
          <a:solidFill>
            <a:srgbClr val="1D9E75">
              <a:alpha val="15000"/>
            </a:srgbClr>
          </a:solidFill>
          <a:ln w="508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91693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291693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Hospital &amp; regulatory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E1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1993392" cy="65836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062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trialchain_v1.aleo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33472" y="4160520"/>
            <a:ext cx="1993392" cy="65836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42062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33472" y="4434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Aleo Testnet ·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9744" y="4160520"/>
            <a:ext cx="1993392" cy="65836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42062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9744" y="4434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in 6 months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86016" y="4160520"/>
            <a:ext cx="1993392" cy="65836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42062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86016" y="44348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 available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TrialChain — Privacy-First Clinical Trials</dc:title>
  <dc:subject>PptxGenJS Presentation</dc:subject>
  <dc:creator>TrialChain</dc:creator>
  <cp:lastModifiedBy>TrialChain</cp:lastModifiedBy>
  <cp:revision>1</cp:revision>
  <dcterms:created xsi:type="dcterms:W3CDTF">2026-04-14T07:35:17Z</dcterms:created>
  <dcterms:modified xsi:type="dcterms:W3CDTF">2026-04-14T07:35:17Z</dcterms:modified>
</cp:coreProperties>
</file>